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222831"/>
          </a:solidFill>
        </p:spPr>
      </p:sp>
      <p:sp>
        <p:nvSpPr>
          <p:cNvPr id="3" name="Shap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22831"/>
          </a:solidFill>
        </p:spPr>
      </p:sp>
      <p:sp>
        <p:nvSpPr>
          <p:cNvPr id="4" name="Text 2"/>
          <p:cNvSpPr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学生校内双证管理系统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698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</a:rPr>
              <a:t>Student Dual-Certificate Management System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931920"/>
            <a:ext cx="36576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114800"/>
            <a:ext cx="10698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演示报告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698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DFF"/>
                </a:solidFill>
              </a:rPr>
              <a:t>2026/6/20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基于 React + Node.js + Express + Ant Design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890FF"/>
                </a:solidFill>
              </a:rPr>
              <a:t>一、项目背景与目标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8B8B"/>
                </a:solidFill>
              </a:rPr>
              <a:t>为什么需要双证管理系统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1247120" cy="27432"/>
          </a:xfrm>
          <a:prstGeom prst="rect">
            <a:avLst/>
          </a:prstGeom>
          <a:solidFill>
            <a:srgbClr val="1890FF"/>
          </a:solidFill>
        </p:spPr>
      </p:sp>
      <p:sp>
        <p:nvSpPr>
          <p:cNvPr id="5" name="Text 3"/>
          <p:cNvSpPr/>
          <p:nvPr/>
        </p:nvSpPr>
        <p:spPr>
          <a:xfrm>
            <a:off x="731520" y="1280160"/>
            <a:ext cx="5120640" cy="5029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890FF"/>
                </a:solidFill>
              </a:rPr>
              <a:t>背景 Background</a:t>
            </a:r>
            <a:endParaRPr lang="en-US" sz="26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■ 国家职业教育改革要求，学生在校期间需取得至少一项职业资格证书</a:t>
            </a:r>
            <a:endParaRPr lang="en-US" sz="26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■ 学校管理制度要求学生完成"毕业证书 + 职业资格证书"双证毕业</a:t>
            </a:r>
            <a:endParaRPr lang="en-US" sz="26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■ 传统人工登记、纸质管理的方式效率低，无法追踪学生证书获取进度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0" y="1280160"/>
            <a:ext cx="5120640" cy="5029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890FF"/>
                </a:solidFill>
              </a:rPr>
              <a:t>目标 Objectives</a:t>
            </a:r>
            <a:endParaRPr lang="en-US" sz="26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■ 实现学生证书管理全过程数字化</a:t>
            </a:r>
            <a:endParaRPr lang="en-US" sz="26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■ 提供学生信息、报名、成绩、证书的统一管理</a:t>
            </a:r>
            <a:endParaRPr lang="en-US" sz="26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■ 提供便捷的证书审核和数据统计</a:t>
            </a:r>
            <a:endParaRPr lang="en-US" sz="26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■ 提供外部系统开放接口供第三方调用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890FF"/>
                </a:solidFill>
              </a:rPr>
              <a:t>二、核心功能模块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8B8B"/>
                </a:solidFill>
              </a:rPr>
              <a:t>全流程覆盖，一站式管理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1247120" cy="27432"/>
          </a:xfrm>
          <a:prstGeom prst="rect">
            <a:avLst/>
          </a:prstGeom>
          <a:solidFill>
            <a:srgbClr val="1890FF"/>
          </a:solidFill>
        </p:spPr>
      </p:sp>
      <p:sp>
        <p:nvSpPr>
          <p:cNvPr id="5" name="Shape 3"/>
          <p:cNvSpPr/>
          <p:nvPr/>
        </p:nvSpPr>
        <p:spPr>
          <a:xfrm>
            <a:off x="731520" y="1371600"/>
            <a:ext cx="3474720" cy="2377440"/>
          </a:xfrm>
          <a:prstGeom prst="rect">
            <a:avLst/>
          </a:prstGeom>
          <a:solidFill>
            <a:srgbClr val="E6F7FF"/>
          </a:solidFill>
          <a:ln w="19050">
            <a:solidFill>
              <a:srgbClr val="189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34747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📊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890FF"/>
                </a:solidFill>
              </a:rPr>
              <a:t>仪表板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34747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831"/>
                </a:solidFill>
              </a:rPr>
              <a:t>待审核数量、通过率、新增趋势、各类实时统计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371600"/>
            <a:ext cx="3474720" cy="2377440"/>
          </a:xfrm>
          <a:prstGeom prst="rect">
            <a:avLst/>
          </a:prstGeom>
          <a:solidFill>
            <a:srgbClr val="E6F7F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554480"/>
            <a:ext cx="34747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📜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389120" y="24688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AE60"/>
                </a:solidFill>
              </a:rPr>
              <a:t>证书管理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389120" y="3017520"/>
            <a:ext cx="34747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831"/>
                </a:solidFill>
              </a:rPr>
              <a:t>人社 / 专业 / 校内三大类证书增删改查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474720" cy="2377440"/>
          </a:xfrm>
          <a:prstGeom prst="rect">
            <a:avLst/>
          </a:prstGeom>
          <a:solidFill>
            <a:srgbClr val="E6F7FF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1554480"/>
            <a:ext cx="34747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👨‍🎓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046720" y="24688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7E22"/>
                </a:solidFill>
              </a:rPr>
              <a:t>学生管理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046720" y="3017520"/>
            <a:ext cx="34747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831"/>
                </a:solidFill>
              </a:rPr>
              <a:t>学生信息维护、批量导入、自定义班级与学院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023360"/>
            <a:ext cx="3474720" cy="2377440"/>
          </a:xfrm>
          <a:prstGeom prst="rect">
            <a:avLst/>
          </a:prstGeom>
          <a:solidFill>
            <a:srgbClr val="E6F7FF"/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206240"/>
            <a:ext cx="34747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✅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731520" y="512064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59B6"/>
                </a:solidFill>
              </a:rPr>
              <a:t>报名审核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31520" y="5669280"/>
            <a:ext cx="34747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831"/>
                </a:solidFill>
              </a:rPr>
              <a:t>学生报名、AI 预审、人工审核、状态流转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9120" y="4023360"/>
            <a:ext cx="3474720" cy="2377440"/>
          </a:xfrm>
          <a:prstGeom prst="rect">
            <a:avLst/>
          </a:prstGeom>
          <a:solidFill>
            <a:srgbClr val="E6F7FF"/>
          </a:solidFill>
          <a:ln w="19050">
            <a:solidFill>
              <a:srgbClr val="3498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4206240"/>
            <a:ext cx="34747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📚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4389120" y="512064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498DB"/>
                </a:solidFill>
              </a:rPr>
              <a:t>成绩归档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389120" y="5669280"/>
            <a:ext cx="34747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831"/>
                </a:solidFill>
              </a:rPr>
              <a:t>按班级查看证书获取情况、上传成绩单附件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46720" y="4023360"/>
            <a:ext cx="3474720" cy="2377440"/>
          </a:xfrm>
          <a:prstGeom prst="rect">
            <a:avLst/>
          </a:prstGeom>
          <a:solidFill>
            <a:srgbClr val="E6F7FF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4206240"/>
            <a:ext cx="34747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📖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8046720" y="512064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3E50"/>
                </a:solidFill>
              </a:rPr>
              <a:t>培训与接口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046720" y="5669280"/>
            <a:ext cx="34747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831"/>
                </a:solidFill>
              </a:rPr>
              <a:t>培训资料发布、API Key 对外开放接口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890FF"/>
                </a:solidFill>
              </a:rPr>
              <a:t>三、管理员端界面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8B8B"/>
                </a:solidFill>
              </a:rPr>
              <a:t>功能强大的管理控制台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1247120" cy="27432"/>
          </a:xfrm>
          <a:prstGeom prst="rect">
            <a:avLst/>
          </a:prstGeom>
          <a:solidFill>
            <a:srgbClr val="1890FF"/>
          </a:solidFill>
        </p:spPr>
      </p:sp>
      <p:sp>
        <p:nvSpPr>
          <p:cNvPr id="5" name="Text 3"/>
          <p:cNvSpPr/>
          <p:nvPr/>
        </p:nvSpPr>
        <p:spPr>
          <a:xfrm>
            <a:off x="731520" y="137160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90FF"/>
                </a:solidFill>
              </a:rPr>
              <a:t>核心工作流程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1280160" cy="731520"/>
          </a:xfrm>
          <a:prstGeom prst="rect">
            <a:avLst/>
          </a:prstGeom>
          <a:solidFill>
            <a:srgbClr val="D9F7BE"/>
          </a:solidFill>
          <a:ln w="1524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12801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831"/>
                </a:solidFill>
              </a:rPr>
              <a:t>证书维护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0" y="2103120"/>
            <a:ext cx="1828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890FF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148840" y="2011680"/>
            <a:ext cx="1280160" cy="731520"/>
          </a:xfrm>
          <a:prstGeom prst="rect">
            <a:avLst/>
          </a:prstGeom>
          <a:solidFill>
            <a:srgbClr val="D9F7BE"/>
          </a:solidFill>
          <a:ln w="1524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2011680"/>
            <a:ext cx="12801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831"/>
                </a:solidFill>
              </a:rPr>
              <a:t>学生录入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2103120"/>
            <a:ext cx="1828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890FF"/>
                </a:solidFill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566160" y="2011680"/>
            <a:ext cx="1280160" cy="731520"/>
          </a:xfrm>
          <a:prstGeom prst="rect">
            <a:avLst/>
          </a:prstGeom>
          <a:solidFill>
            <a:srgbClr val="D9F7BE"/>
          </a:solidFill>
          <a:ln w="1524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011680"/>
            <a:ext cx="12801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831"/>
                </a:solidFill>
              </a:rPr>
              <a:t>报名审核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103120"/>
            <a:ext cx="1828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890FF"/>
                </a:solidFill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4983480" y="2011680"/>
            <a:ext cx="1280160" cy="731520"/>
          </a:xfrm>
          <a:prstGeom prst="rect">
            <a:avLst/>
          </a:prstGeom>
          <a:solidFill>
            <a:srgbClr val="D9F7BE"/>
          </a:solidFill>
          <a:ln w="1524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011680"/>
            <a:ext cx="12801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831"/>
                </a:solidFill>
              </a:rPr>
              <a:t>成绩归档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108960"/>
            <a:ext cx="10698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90FF"/>
                </a:solidFill>
              </a:rPr>
              <a:t>管理员操作功能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3657600"/>
            <a:ext cx="10698480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证书管理：分类管理 / 类型管理（人社、专业、校内）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学生管理：批量导入 / 自定义班级与学院 / Excel 模板下载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报名审核：AI 预审 + 人工审核 / 状态流转 / 审核记录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成绩归档：按班级查看 / 考试信息编辑 / 成绩单附件上传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接口测试：API Key 认证 / 外部系统对接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个人设置：账号信息 / 密码修改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890FF"/>
                </a:solidFill>
              </a:rPr>
              <a:t>四、学生端界面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8B8B"/>
                </a:solidFill>
              </a:rPr>
              <a:t>面向学生的自主服务入口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1247120" cy="27432"/>
          </a:xfrm>
          <a:prstGeom prst="rect">
            <a:avLst/>
          </a:prstGeom>
          <a:solidFill>
            <a:srgbClr val="1890FF"/>
          </a:solidFill>
        </p:spPr>
      </p:sp>
      <p:sp>
        <p:nvSpPr>
          <p:cNvPr id="5" name="Text 3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90FF"/>
                </a:solidFill>
              </a:rPr>
              <a:t>登录方式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5120640" cy="731520"/>
          </a:xfrm>
          <a:prstGeom prst="rect">
            <a:avLst/>
          </a:prstGeom>
          <a:solidFill>
            <a:srgbClr val="FFF7E6"/>
          </a:solidFill>
          <a:ln w="12700">
            <a:solidFill>
              <a:srgbClr val="FAAD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51206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管理员登录：</a:t>
            </a:r>
            <a:r>
              <a:rPr lang="en-US" sz="1600" dirty="0">
                <a:solidFill>
                  <a:srgbClr val="000000"/>
                </a:solidFill>
              </a:rPr>
              <a:t>账号：admin / 密码：admin123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09360" y="1920240"/>
            <a:ext cx="5120640" cy="731520"/>
          </a:xfrm>
          <a:prstGeom prst="rect">
            <a:avLst/>
          </a:prstGeom>
          <a:solidFill>
            <a:srgbClr val="E6F7FF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920240"/>
            <a:ext cx="51206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学生登录：</a:t>
            </a:r>
            <a:r>
              <a:rPr lang="en-US" sz="1600" dirty="0">
                <a:solidFill>
                  <a:srgbClr val="000000"/>
                </a:solidFill>
              </a:rPr>
              <a:t>学号：2023001001 / 密码：123456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10698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90FF"/>
                </a:solidFill>
              </a:rPr>
              <a:t>学生端功能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31520" y="3566160"/>
            <a:ext cx="2560320" cy="2560320"/>
          </a:xfrm>
          <a:prstGeom prst="rect">
            <a:avLst/>
          </a:prstGeom>
          <a:solidFill>
            <a:srgbClr val="F0F5FF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749040"/>
            <a:ext cx="25603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📋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31520" y="475488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90FF"/>
                </a:solidFill>
              </a:rPr>
              <a:t>个人中心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5303520"/>
            <a:ext cx="2560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831"/>
                </a:solidFill>
              </a:rPr>
              <a:t>查看和修改个人资料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0" y="3566160"/>
            <a:ext cx="2560320" cy="2560320"/>
          </a:xfrm>
          <a:prstGeom prst="rect">
            <a:avLst/>
          </a:prstGeom>
          <a:solidFill>
            <a:srgbClr val="F0F5FF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3749040"/>
            <a:ext cx="25603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🎓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474720" y="475488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90FF"/>
                </a:solidFill>
              </a:rPr>
              <a:t>我的证书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474720" y="5303520"/>
            <a:ext cx="2560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831"/>
                </a:solidFill>
              </a:rPr>
              <a:t>查看已获证书列表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566160"/>
            <a:ext cx="2560320" cy="2560320"/>
          </a:xfrm>
          <a:prstGeom prst="rect">
            <a:avLst/>
          </a:prstGeom>
          <a:solidFill>
            <a:srgbClr val="F0F5FF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3749040"/>
            <a:ext cx="25603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📝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217920" y="475488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90FF"/>
                </a:solidFill>
              </a:rPr>
              <a:t>报名考试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17920" y="5303520"/>
            <a:ext cx="2560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831"/>
                </a:solidFill>
              </a:rPr>
              <a:t>自主报名证书考试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961120" y="3566160"/>
            <a:ext cx="2560320" cy="2560320"/>
          </a:xfrm>
          <a:prstGeom prst="rect">
            <a:avLst/>
          </a:prstGeom>
          <a:solidFill>
            <a:srgbClr val="F0F5FF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0" y="3749040"/>
            <a:ext cx="25603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📖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8961120" y="475488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90FF"/>
                </a:solidFill>
              </a:rPr>
              <a:t>培训资料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961120" y="5303520"/>
            <a:ext cx="2560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831"/>
                </a:solidFill>
              </a:rPr>
              <a:t>查看培训课程资料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890FF"/>
                </a:solidFill>
              </a:rPr>
              <a:t>五、技术架构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8B8B"/>
                </a:solidFill>
              </a:rPr>
              <a:t>现代化 Web 应用架构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1247120" cy="27432"/>
          </a:xfrm>
          <a:prstGeom prst="rect">
            <a:avLst/>
          </a:prstGeom>
          <a:solidFill>
            <a:srgbClr val="1890FF"/>
          </a:solidFill>
        </p:spPr>
      </p:sp>
      <p:sp>
        <p:nvSpPr>
          <p:cNvPr id="5" name="Shape 3"/>
          <p:cNvSpPr/>
          <p:nvPr/>
        </p:nvSpPr>
        <p:spPr>
          <a:xfrm>
            <a:off x="731520" y="1371600"/>
            <a:ext cx="10698480" cy="1463040"/>
          </a:xfrm>
          <a:prstGeom prst="rect">
            <a:avLst/>
          </a:prstGeom>
          <a:solidFill>
            <a:srgbClr val="F6FFED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22831"/>
                </a:solidFill>
              </a:rPr>
              <a:t>前端 / Web 界面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253746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11680"/>
            <a:ext cx="25374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831"/>
                </a:solidFill>
              </a:rPr>
              <a:t>React 18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06140" y="2011680"/>
            <a:ext cx="253746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6140" y="2011680"/>
            <a:ext cx="25374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831"/>
                </a:solidFill>
              </a:rPr>
              <a:t>Ant Design 5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80760" y="2011680"/>
            <a:ext cx="253746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2011680"/>
            <a:ext cx="25374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831"/>
                </a:solidFill>
              </a:rPr>
              <a:t>React Router 6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755380" y="2011680"/>
            <a:ext cx="253746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55380" y="2011680"/>
            <a:ext cx="25374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831"/>
                </a:solidFill>
              </a:rPr>
              <a:t>Axios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017520"/>
            <a:ext cx="10698480" cy="1463040"/>
          </a:xfrm>
          <a:prstGeom prst="rect">
            <a:avLst/>
          </a:prstGeom>
          <a:solidFill>
            <a:srgbClr val="FFF7E6"/>
          </a:solidFill>
          <a:ln w="25400">
            <a:solidFill>
              <a:srgbClr val="FAAD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017520"/>
            <a:ext cx="10698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22831"/>
                </a:solidFill>
              </a:rPr>
              <a:t>后端 / API 服务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520" y="3657600"/>
            <a:ext cx="2002536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FAAD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657600"/>
            <a:ext cx="2002536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831"/>
                </a:solidFill>
              </a:rPr>
              <a:t>Node.js + Express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871216" y="3657600"/>
            <a:ext cx="2002536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FAAD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71216" y="3657600"/>
            <a:ext cx="2002536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831"/>
                </a:solidFill>
              </a:rPr>
              <a:t>JWT 认证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10912" y="3657600"/>
            <a:ext cx="2002536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FAAD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0912" y="3657600"/>
            <a:ext cx="2002536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831"/>
                </a:solidFill>
              </a:rPr>
              <a:t>API Key 认证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50608" y="3657600"/>
            <a:ext cx="2002536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FAAD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3657600"/>
            <a:ext cx="2002536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831"/>
                </a:solidFill>
              </a:rPr>
              <a:t>multer 文件上传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290304" y="3657600"/>
            <a:ext cx="2002536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FAAD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90304" y="3657600"/>
            <a:ext cx="2002536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831"/>
                </a:solidFill>
              </a:rPr>
              <a:t>xlsx Excel 处理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31520" y="4663440"/>
            <a:ext cx="10698480" cy="1463040"/>
          </a:xfrm>
          <a:prstGeom prst="rect">
            <a:avLst/>
          </a:prstGeom>
          <a:solidFill>
            <a:srgbClr val="F0F5FF"/>
          </a:solidFill>
          <a:ln w="25400">
            <a:solidFill>
              <a:srgbClr val="1890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663440"/>
            <a:ext cx="10698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22831"/>
                </a:solidFill>
              </a:rPr>
              <a:t>数据存储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31520" y="5303520"/>
            <a:ext cx="342900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1890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303520"/>
            <a:ext cx="34290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831"/>
                </a:solidFill>
              </a:rPr>
              <a:t>MySQL 8/9 (生产)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297680" y="5303520"/>
            <a:ext cx="342900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1890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0" y="5303520"/>
            <a:ext cx="34290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831"/>
                </a:solidFill>
              </a:rPr>
              <a:t>mysql2 连接池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863840" y="5303520"/>
            <a:ext cx="342900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1890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63840" y="5303520"/>
            <a:ext cx="34290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831"/>
                </a:solidFill>
              </a:rPr>
              <a:t>演示模式：内存数据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0" y="28346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890FF"/>
                </a:solidFill>
              </a:rPr>
              <a:t>⬆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572000" y="44805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890FF"/>
                </a:solidFill>
              </a:rPr>
              <a:t>⬆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486400" y="283464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8B8B"/>
                </a:solidFill>
              </a:rPr>
              <a:t>RESTful API 响应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0" y="448056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8B8B"/>
                </a:solidFill>
              </a:rPr>
              <a:t>SQL 查询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890FF"/>
                </a:solidFill>
              </a:rPr>
              <a:t>六、项目亮点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8B8B"/>
                </a:solidFill>
              </a:rPr>
              <a:t>让系统与众不同的特色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1247120" cy="27432"/>
          </a:xfrm>
          <a:prstGeom prst="rect">
            <a:avLst/>
          </a:prstGeom>
          <a:solidFill>
            <a:srgbClr val="1890FF"/>
          </a:solidFill>
        </p:spPr>
      </p:sp>
      <p:sp>
        <p:nvSpPr>
          <p:cNvPr id="5" name="Shape 3"/>
          <p:cNvSpPr/>
          <p:nvPr/>
        </p:nvSpPr>
        <p:spPr>
          <a:xfrm>
            <a:off x="731520" y="1463040"/>
            <a:ext cx="2560320" cy="20116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2560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90FF"/>
                </a:solidFill>
              </a:rPr>
              <a:t>一键启动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2560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831"/>
                </a:solidFill>
              </a:rPr>
              <a:t>双击 start.bat 即可启动前后端，无需复杂配置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2560320" cy="20116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554480"/>
            <a:ext cx="2560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💡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74720" y="237744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90FF"/>
                </a:solidFill>
              </a:rPr>
              <a:t>双端支持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788920"/>
            <a:ext cx="2560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831"/>
                </a:solidFill>
              </a:rPr>
              <a:t>同时提供管理员端与学生端，两个独立界面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560320" cy="20116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2560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🔌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217920" y="237744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90FF"/>
                </a:solidFill>
              </a:rPr>
              <a:t>演示模式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2788920"/>
            <a:ext cx="2560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831"/>
                </a:solidFill>
              </a:rPr>
              <a:t>内置内存数据，无需安装 MySQL，开箱即用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61120" y="1463040"/>
            <a:ext cx="2560320" cy="20116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0" y="1554480"/>
            <a:ext cx="2560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🔒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961120" y="237744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90FF"/>
                </a:solidFill>
              </a:rPr>
              <a:t>双重认证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61120" y="2788920"/>
            <a:ext cx="2560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831"/>
                </a:solidFill>
              </a:rPr>
              <a:t>JWT 认证 + API Key 双机制，保证数据安全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749040"/>
            <a:ext cx="2560320" cy="20116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840480"/>
            <a:ext cx="2560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📄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31520" y="466344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90FF"/>
                </a:solidFill>
              </a:rPr>
              <a:t>外部接口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" y="5074920"/>
            <a:ext cx="2560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831"/>
                </a:solidFill>
              </a:rPr>
              <a:t>开放学生证书信息 API 接口，便于外部系统调用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0" y="3749040"/>
            <a:ext cx="2560320" cy="20116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3840480"/>
            <a:ext cx="2560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🖥️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3474720" y="466344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90FF"/>
                </a:solidFill>
              </a:rPr>
              <a:t>数据可视化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474720" y="5074920"/>
            <a:ext cx="2560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831"/>
                </a:solidFill>
              </a:rPr>
              <a:t>仪表板实时展示审核数量与趋势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3749040"/>
            <a:ext cx="2560320" cy="20116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3840480"/>
            <a:ext cx="2560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🧠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6217920" y="466344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90FF"/>
                </a:solidFill>
              </a:rPr>
              <a:t>AI 预审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217920" y="5074920"/>
            <a:ext cx="2560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831"/>
                </a:solidFill>
              </a:rPr>
              <a:t>自动根据分数建议通过/驳回，减少人工负担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961120" y="3749040"/>
            <a:ext cx="2560320" cy="20116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0" y="3840480"/>
            <a:ext cx="2560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8961120" y="466344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90FF"/>
                </a:solidFill>
              </a:rPr>
              <a:t>批量导入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961120" y="5074920"/>
            <a:ext cx="2560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831"/>
                </a:solidFill>
              </a:rPr>
              <a:t>支持 Excel 模板批量录入学生信息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890FF"/>
                </a:solidFill>
              </a:rPr>
              <a:t>七、快速启动与使用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8B8B"/>
                </a:solidFill>
              </a:rPr>
              <a:t>三步跑起来，一分钟上手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1247120" cy="27432"/>
          </a:xfrm>
          <a:prstGeom prst="rect">
            <a:avLst/>
          </a:prstGeom>
          <a:solidFill>
            <a:srgbClr val="1890FF"/>
          </a:solidFill>
        </p:spPr>
      </p:sp>
      <p:sp>
        <p:nvSpPr>
          <p:cNvPr id="5" name="Shape 3"/>
          <p:cNvSpPr/>
          <p:nvPr/>
        </p:nvSpPr>
        <p:spPr>
          <a:xfrm>
            <a:off x="731520" y="1554480"/>
            <a:ext cx="914400" cy="914400"/>
          </a:xfrm>
          <a:prstGeom prst="ellipse">
            <a:avLst/>
          </a:prstGeom>
          <a:solidFill>
            <a:srgbClr val="1890FF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828800" y="164592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831"/>
                </a:solidFill>
              </a:rPr>
              <a:t>安装 Node.js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214884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8B8B"/>
                </a:solidFill>
              </a:rPr>
              <a:t>下载安装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0" y="1737360"/>
            <a:ext cx="2743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890FF"/>
                </a:solidFill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572000" y="1554480"/>
            <a:ext cx="914400" cy="9144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554480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669280" y="164592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831"/>
                </a:solidFill>
              </a:rPr>
              <a:t>双击启动脚本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69280" y="214884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8B8B"/>
                </a:solidFill>
              </a:rPr>
              <a:t>双击 start.bat 或 启动系统.vbs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1737360"/>
            <a:ext cx="2743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890FF"/>
                </a:solidFill>
              </a:rPr>
              <a:t>→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8412480" y="1554480"/>
            <a:ext cx="914400" cy="914400"/>
          </a:xfrm>
          <a:prstGeom prst="ellipse">
            <a:avLst/>
          </a:prstGeom>
          <a:solidFill>
            <a:srgbClr val="FAAD14"/>
          </a:solidFill>
          <a:ln w="12700">
            <a:solidFill>
              <a:srgbClr val="FAAD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554480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509760" y="164592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831"/>
                </a:solidFill>
              </a:rPr>
              <a:t>打开浏览器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09760" y="214884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8B8B"/>
                </a:solidFill>
              </a:rPr>
              <a:t>访问 http://localhost:3000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200400"/>
            <a:ext cx="5120640" cy="1280160"/>
          </a:xfrm>
          <a:prstGeom prst="rect">
            <a:avLst/>
          </a:prstGeom>
          <a:solidFill>
            <a:srgbClr val="FFF2E8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291840"/>
            <a:ext cx="4937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7E22"/>
                </a:solidFill>
              </a:rPr>
              <a:t>停止服务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4400" y="374904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831"/>
                </a:solidFill>
              </a:rPr>
              <a:t>■ 双击 stop.bat 停止所有服务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411480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831"/>
                </a:solidFill>
              </a:rPr>
              <a:t>■ 或在服务窗口按 Ctrl+C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09360" y="3200400"/>
            <a:ext cx="5120640" cy="1280160"/>
          </a:xfrm>
          <a:prstGeom prst="rect">
            <a:avLst/>
          </a:prstGeom>
          <a:solidFill>
            <a:srgbClr val="E6FFED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3291840"/>
            <a:ext cx="4937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AE60"/>
                </a:solidFill>
              </a:rPr>
              <a:t>演示账号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92240" y="374904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831"/>
                </a:solidFill>
              </a:rPr>
              <a:t>■ 管理员：admin / admin123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411480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831"/>
                </a:solidFill>
              </a:rPr>
              <a:t>■ 学生：2023001001 / 123456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31520" y="4754880"/>
            <a:ext cx="10698480" cy="1645920"/>
          </a:xfrm>
          <a:prstGeom prst="rect">
            <a:avLst/>
          </a:prstGeom>
          <a:solidFill>
            <a:srgbClr val="FFFBE6"/>
          </a:solidFill>
          <a:ln w="15240">
            <a:solidFill>
              <a:srgbClr val="FAAD1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846320"/>
            <a:ext cx="10332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AAD14"/>
                </a:solidFill>
              </a:rPr>
              <a:t>注意事项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4400" y="5303520"/>
            <a:ext cx="1033272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首次启动需要 npm install 下载依赖，可能需要几分钟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前端需要 15-30 秒编译完成，如页面无法访问请刷新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演示模式下重启后数据会重置，生产请使用 MySQL 版本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222831"/>
          </a:solidFill>
        </p:spPr>
      </p:sp>
      <p:sp>
        <p:nvSpPr>
          <p:cNvPr id="3" name="Shap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22831"/>
          </a:solidFill>
        </p:spPr>
      </p:sp>
      <p:sp>
        <p:nvSpPr>
          <p:cNvPr id="4" name="Text 2"/>
          <p:cNvSpPr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感谢观看！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698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E6F7FF"/>
                </a:solidFill>
              </a:rPr>
              <a:t>Thank You for Watching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828800" y="3840480"/>
            <a:ext cx="853135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3931920"/>
            <a:ext cx="853135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890FF"/>
                </a:solidFill>
              </a:rPr>
              <a:t>项目源代码已发布在 GitHub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4572000"/>
            <a:ext cx="853135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2831"/>
                </a:solidFill>
              </a:rPr>
              <a:t>https://github.com/honlili/project1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欢迎交流与反馈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1646</Words>
  <Application>WPS 演示</Application>
  <PresentationFormat>On-screen Show (16:9)</PresentationFormat>
  <Paragraphs>278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Calibri</vt:lpstr>
      <vt:lpstr>微软雅黑</vt:lpstr>
      <vt:lpstr>Arial Unicode MS</vt:lpstr>
      <vt:lpstr>等线</vt:lpstr>
      <vt:lpstr>Wingdings</vt:lpstr>
      <vt:lpstr>Calibri Light</vt:lpstr>
      <vt:lpstr>江城圆体 400W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学生校内双证管理系统演示</dc:title>
  <dc:creator>honlili</dc:creator>
  <dc:subject>PptxGenJS Presentation</dc:subject>
  <cp:lastModifiedBy>荒于嬉</cp:lastModifiedBy>
  <cp:revision>2</cp:revision>
  <dcterms:created xsi:type="dcterms:W3CDTF">2026-06-20T13:52:00Z</dcterms:created>
  <dcterms:modified xsi:type="dcterms:W3CDTF">2026-06-20T13:56:53Z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B927E9ACE71B40E59B023AD59A6AAA26_12</vt:lpwstr>
  </property>
  <property fmtid="{D5CDD505-2E9C-101B-9397-08002B2CF9AE}" pid="3" name="KSOProductBuildVer">
    <vt:lpwstr>2052-12.1.0.26895</vt:lpwstr>
  </property>
</Properties>
</file>